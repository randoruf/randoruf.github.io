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62" y="20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B37B3-A302-4E18-AFC6-3968FA1764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FE2A21-66B2-4381-B55A-96F0AF6196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CDFCF2-858F-44EA-860A-6D234A271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0BDFB-8EBB-4CF6-98CE-3592020032B9}" type="datetimeFigureOut">
              <a:rPr lang="zh-CN" altLang="en-US" smtClean="0"/>
              <a:t>2021/3/25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1D4FF7-42D7-402C-879D-61F210174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2B51C7-E946-45C0-BB02-642ADF026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E8DB-B22E-434D-B7D5-83D4AD5DF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4713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F7E23-4378-4C34-886B-E82DA3F3B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F7AD1-F5F3-4795-987A-AAB872CA28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184CB0-0388-4FFE-B877-1C8F7F399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0BDFB-8EBB-4CF6-98CE-3592020032B9}" type="datetimeFigureOut">
              <a:rPr lang="zh-CN" altLang="en-US" smtClean="0"/>
              <a:t>2021/3/25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688C5A-479B-4FC4-B2C7-147967082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D1F0-39B7-4D2D-ACD1-4FFBD3C0F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E8DB-B22E-434D-B7D5-83D4AD5DF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9510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E7156-4087-4B55-804E-8757008FC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70AF8-AA13-4D38-BD30-04EEC876D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D46A04-0BE0-4C66-A275-41FAC42A5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0BDFB-8EBB-4CF6-98CE-3592020032B9}" type="datetimeFigureOut">
              <a:rPr lang="zh-CN" altLang="en-US" smtClean="0"/>
              <a:t>2021/3/25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725E3-CA4F-4F2D-83D5-9200DA7E1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9B43AB-A0D2-4498-9320-1069AD623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E8DB-B22E-434D-B7D5-83D4AD5DF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3375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168DF-9C5C-4032-96B4-4C648FDE1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63A0F-C149-4C32-8A44-BA8063031A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87B92C-DE52-41DE-82D8-DFB08AC4A4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CC25CA-6594-4F80-A775-2EFE9D215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0BDFB-8EBB-4CF6-98CE-3592020032B9}" type="datetimeFigureOut">
              <a:rPr lang="zh-CN" altLang="en-US" smtClean="0"/>
              <a:t>2021/3/25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35DEB6-F2BD-42D2-BA65-EA8F943CE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6712D1-F6E3-4D42-933E-27FA3EE87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E8DB-B22E-434D-B7D5-83D4AD5DF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5302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DF16B-4664-4F20-A4E2-96551E081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440232-49E8-40DD-B93E-AB592FE9D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94D5C3-DC1F-4A03-8A94-AAFCCBD0DE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392BC3-9C00-425D-AF67-722FA655F1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386B90-B0F5-4DE3-8F61-29962743AB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F4102E-0A5C-424E-8A91-3A1AF5533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0BDFB-8EBB-4CF6-98CE-3592020032B9}" type="datetimeFigureOut">
              <a:rPr lang="zh-CN" altLang="en-US" smtClean="0"/>
              <a:t>2021/3/25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57C05D-94AA-408B-A70E-704538739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10A6AC-6320-4F82-A85D-2D532EB2D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E8DB-B22E-434D-B7D5-83D4AD5DF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4489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0724D-5A76-41DD-9473-D539FE4D3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3764F2-A5F5-46A8-9F3A-083959462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0BDFB-8EBB-4CF6-98CE-3592020032B9}" type="datetimeFigureOut">
              <a:rPr lang="zh-CN" altLang="en-US" smtClean="0"/>
              <a:t>2021/3/25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92EC94-E20D-4DA2-A1CA-00B981979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F899F2-3594-48DD-80E7-EC6D5765A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E8DB-B22E-434D-B7D5-83D4AD5DF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8953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E12AB0-58BB-4D2B-9E65-8AC285466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0BDFB-8EBB-4CF6-98CE-3592020032B9}" type="datetimeFigureOut">
              <a:rPr lang="zh-CN" altLang="en-US" smtClean="0"/>
              <a:t>2021/3/25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E1BA69-9644-4028-9A7C-A882507B2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CE8DA8-1E63-4693-8D38-605B7F02E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E8DB-B22E-434D-B7D5-83D4AD5DF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1560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BBABC-39BC-467A-B10C-4D39A8912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79B4F-4278-4354-91B5-5A87E79765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7CA27B-DED0-40CB-8628-0473C15CEC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D123AA-757F-4F71-B78C-D0187479E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0BDFB-8EBB-4CF6-98CE-3592020032B9}" type="datetimeFigureOut">
              <a:rPr lang="zh-CN" altLang="en-US" smtClean="0"/>
              <a:t>2021/3/25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0E7973-82E3-4C85-81C2-5AE1A93F6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366620-0C1A-42BE-9F8E-2D1DD081D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E8DB-B22E-434D-B7D5-83D4AD5DF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2339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4A6AF-32DE-4D1D-A9DC-D169DB3AC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892B3E-DDA9-41D2-A9C7-F0038B537E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F12574-F8A8-4C42-B2BE-EE1F10ABA2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7AC423-5E2A-4C3A-ACCF-43424AD39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0BDFB-8EBB-4CF6-98CE-3592020032B9}" type="datetimeFigureOut">
              <a:rPr lang="zh-CN" altLang="en-US" smtClean="0"/>
              <a:t>2021/3/25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B65E2A-C638-4060-8742-FAFC710E7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D0EAD7-4110-4720-80FA-15A721D8A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E8DB-B22E-434D-B7D5-83D4AD5DF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0798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670BC-D687-4591-926B-8254A4F3A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ED741A-1803-4AD5-8108-86910BFA9C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028311-D4F2-42C7-B376-43AE6C6AD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0BDFB-8EBB-4CF6-98CE-3592020032B9}" type="datetimeFigureOut">
              <a:rPr lang="zh-CN" altLang="en-US" smtClean="0"/>
              <a:t>2021/3/25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66604E-E4FC-4FDA-B41C-647158315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A59549-3502-49A8-9786-D71DD929B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E8DB-B22E-434D-B7D5-83D4AD5DF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358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52ACD4-AA17-4D12-B1E2-0EF5E27542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D3851F-432E-40BE-8FA7-7F9BFD5C41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BE4136-8C1D-4C85-BD94-6D5A02C8E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0BDFB-8EBB-4CF6-98CE-3592020032B9}" type="datetimeFigureOut">
              <a:rPr lang="zh-CN" altLang="en-US" smtClean="0"/>
              <a:t>2021/3/25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9EFFF-66E0-4331-80BC-1078AF32B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E43E70-CBB8-4629-B784-F4D7BAE13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E8DB-B22E-434D-B7D5-83D4AD5DF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7815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52F553-8E90-4BE2-A412-2D1AF0D76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978ADA-D2EC-4A3A-9CF6-AD80066898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C4A65B-3229-4FD4-8A3D-6060A18554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0BDFB-8EBB-4CF6-98CE-3592020032B9}" type="datetimeFigureOut">
              <a:rPr lang="zh-CN" altLang="en-US" smtClean="0"/>
              <a:t>2021/3/25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85A54-B183-4CBB-A471-4A9CF0F1D6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D326CC-88A2-469B-991D-0F29F95726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F8E8DB-B22E-434D-B7D5-83D4AD5DF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0073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16BD4-6455-4D7A-BB2C-D9A19CD1D8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Render to Texture</a:t>
            </a:r>
            <a:endParaRPr lang="zh-CN" alt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8738B2-5958-4428-ADE7-6A8FC32909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SDL2 Tutorial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682334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8B3A9E6-C2D3-4B44-B225-A25577EE960B}"/>
              </a:ext>
            </a:extLst>
          </p:cNvPr>
          <p:cNvSpPr/>
          <p:nvPr/>
        </p:nvSpPr>
        <p:spPr>
          <a:xfrm>
            <a:off x="752168" y="796413"/>
            <a:ext cx="1396180" cy="1371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4FB3C3-448F-4232-9CEF-8D8057F931C8}"/>
              </a:ext>
            </a:extLst>
          </p:cNvPr>
          <p:cNvSpPr txBox="1"/>
          <p:nvPr/>
        </p:nvSpPr>
        <p:spPr>
          <a:xfrm>
            <a:off x="989234" y="427081"/>
            <a:ext cx="1116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mTexture</a:t>
            </a:r>
            <a:endParaRPr lang="zh-CN" alt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2BB8D9A-7626-4526-A5C3-04A0504D6A2B}"/>
              </a:ext>
            </a:extLst>
          </p:cNvPr>
          <p:cNvCxnSpPr/>
          <p:nvPr/>
        </p:nvCxnSpPr>
        <p:spPr>
          <a:xfrm>
            <a:off x="2290916" y="796413"/>
            <a:ext cx="0" cy="13716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FB3B889-2AA8-4373-B770-190AE846530F}"/>
              </a:ext>
            </a:extLst>
          </p:cNvPr>
          <p:cNvCxnSpPr>
            <a:cxnSpLocks/>
          </p:cNvCxnSpPr>
          <p:nvPr/>
        </p:nvCxnSpPr>
        <p:spPr>
          <a:xfrm flipH="1">
            <a:off x="752169" y="2329281"/>
            <a:ext cx="139617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7164C73-C756-45AC-BD5C-E91D50991502}"/>
              </a:ext>
            </a:extLst>
          </p:cNvPr>
          <p:cNvSpPr txBox="1"/>
          <p:nvPr/>
        </p:nvSpPr>
        <p:spPr>
          <a:xfrm>
            <a:off x="2290916" y="1297547"/>
            <a:ext cx="814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height</a:t>
            </a:r>
            <a:endParaRPr lang="zh-CN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A43BF4-B2AB-439E-B4B7-41536A7F4422}"/>
              </a:ext>
            </a:extLst>
          </p:cNvPr>
          <p:cNvSpPr txBox="1"/>
          <p:nvPr/>
        </p:nvSpPr>
        <p:spPr>
          <a:xfrm>
            <a:off x="1084612" y="2356850"/>
            <a:ext cx="731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width</a:t>
            </a:r>
            <a:endParaRPr lang="zh-CN" alt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25656D-EA49-4F9D-B7D1-967714F22B95}"/>
              </a:ext>
            </a:extLst>
          </p:cNvPr>
          <p:cNvSpPr/>
          <p:nvPr/>
        </p:nvSpPr>
        <p:spPr>
          <a:xfrm>
            <a:off x="4401782" y="943898"/>
            <a:ext cx="7156033" cy="40213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4A0BAE-8598-4216-AEB8-27603B0815BA}"/>
              </a:ext>
            </a:extLst>
          </p:cNvPr>
          <p:cNvSpPr txBox="1"/>
          <p:nvPr/>
        </p:nvSpPr>
        <p:spPr>
          <a:xfrm>
            <a:off x="6855123" y="509070"/>
            <a:ext cx="2611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gRenderer</a:t>
            </a:r>
            <a:r>
              <a:rPr lang="en-US" altLang="zh-CN" dirty="0"/>
              <a:t> (main screen)</a:t>
            </a:r>
            <a:endParaRPr lang="zh-CN" altLang="en-US" dirty="0"/>
          </a:p>
        </p:txBody>
      </p:sp>
      <p:pic>
        <p:nvPicPr>
          <p:cNvPr id="1026" name="Picture 2" descr="Guilty Crown - Japan Powered">
            <a:extLst>
              <a:ext uri="{FF2B5EF4-FFF2-40B4-BE49-F238E27FC236}">
                <a16:creationId xmlns:a16="http://schemas.microsoft.com/office/drawing/2014/main" id="{F30AC453-1629-4143-BAF9-51C9268DC1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0274" y="1031833"/>
            <a:ext cx="6995401" cy="3860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 3">
            <a:extLst>
              <a:ext uri="{FF2B5EF4-FFF2-40B4-BE49-F238E27FC236}">
                <a16:creationId xmlns:a16="http://schemas.microsoft.com/office/drawing/2014/main" id="{D89161D7-9B74-4C06-BD7D-33C2185F34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632" y="5159723"/>
            <a:ext cx="3864075" cy="23915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0" rIns="0" bIns="53958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SDL_SetRenderTarget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(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gRenderer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mTexture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);</a:t>
            </a:r>
            <a:r>
              <a:rPr kumimoji="0" lang="zh-CN" altLang="zh-CN" sz="5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effectLst/>
              <a:latin typeface="Consolas" panose="020B0609020204030204" pitchFamily="49" charset="0"/>
            </a:endParaRPr>
          </a:p>
        </p:txBody>
      </p:sp>
      <p:cxnSp>
        <p:nvCxnSpPr>
          <p:cNvPr id="23" name="Connector: Curved 22">
            <a:extLst>
              <a:ext uri="{FF2B5EF4-FFF2-40B4-BE49-F238E27FC236}">
                <a16:creationId xmlns:a16="http://schemas.microsoft.com/office/drawing/2014/main" id="{ED09F126-4C2C-477E-BB71-71A98F6C63DD}"/>
              </a:ext>
            </a:extLst>
          </p:cNvPr>
          <p:cNvCxnSpPr>
            <a:cxnSpLocks/>
          </p:cNvCxnSpPr>
          <p:nvPr/>
        </p:nvCxnSpPr>
        <p:spPr>
          <a:xfrm rot="10800000">
            <a:off x="2425501" y="1873045"/>
            <a:ext cx="1841698" cy="1492234"/>
          </a:xfrm>
          <a:prstGeom prst="curvedConnector3">
            <a:avLst/>
          </a:prstGeom>
          <a:ln w="381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D7F8E5C-F32D-4280-8AD2-6B4735478EB4}"/>
              </a:ext>
            </a:extLst>
          </p:cNvPr>
          <p:cNvSpPr txBox="1"/>
          <p:nvPr/>
        </p:nvSpPr>
        <p:spPr>
          <a:xfrm>
            <a:off x="2425501" y="2434496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highlight>
                  <a:srgbClr val="FFFF00"/>
                </a:highlight>
              </a:rPr>
              <a:t>Render Target</a:t>
            </a:r>
            <a:endParaRPr lang="zh-CN" alt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27458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8B3A9E6-C2D3-4B44-B225-A25577EE960B}"/>
              </a:ext>
            </a:extLst>
          </p:cNvPr>
          <p:cNvSpPr/>
          <p:nvPr/>
        </p:nvSpPr>
        <p:spPr>
          <a:xfrm>
            <a:off x="752168" y="796412"/>
            <a:ext cx="1396180" cy="14755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4FB3C3-448F-4232-9CEF-8D8057F931C8}"/>
              </a:ext>
            </a:extLst>
          </p:cNvPr>
          <p:cNvSpPr txBox="1"/>
          <p:nvPr/>
        </p:nvSpPr>
        <p:spPr>
          <a:xfrm>
            <a:off x="989234" y="427081"/>
            <a:ext cx="1116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mTexture</a:t>
            </a:r>
            <a:endParaRPr lang="zh-CN" alt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2BB8D9A-7626-4526-A5C3-04A0504D6A2B}"/>
              </a:ext>
            </a:extLst>
          </p:cNvPr>
          <p:cNvCxnSpPr/>
          <p:nvPr/>
        </p:nvCxnSpPr>
        <p:spPr>
          <a:xfrm>
            <a:off x="2290916" y="796413"/>
            <a:ext cx="0" cy="13716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FB3B889-2AA8-4373-B770-190AE846530F}"/>
              </a:ext>
            </a:extLst>
          </p:cNvPr>
          <p:cNvCxnSpPr>
            <a:cxnSpLocks/>
          </p:cNvCxnSpPr>
          <p:nvPr/>
        </p:nvCxnSpPr>
        <p:spPr>
          <a:xfrm flipH="1">
            <a:off x="752169" y="2329281"/>
            <a:ext cx="139617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7164C73-C756-45AC-BD5C-E91D50991502}"/>
              </a:ext>
            </a:extLst>
          </p:cNvPr>
          <p:cNvSpPr txBox="1"/>
          <p:nvPr/>
        </p:nvSpPr>
        <p:spPr>
          <a:xfrm>
            <a:off x="2290916" y="1297547"/>
            <a:ext cx="814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height</a:t>
            </a:r>
            <a:endParaRPr lang="zh-CN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A43BF4-B2AB-439E-B4B7-41536A7F4422}"/>
              </a:ext>
            </a:extLst>
          </p:cNvPr>
          <p:cNvSpPr txBox="1"/>
          <p:nvPr/>
        </p:nvSpPr>
        <p:spPr>
          <a:xfrm>
            <a:off x="1084612" y="2356850"/>
            <a:ext cx="731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width</a:t>
            </a:r>
            <a:endParaRPr lang="zh-CN" alt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25656D-EA49-4F9D-B7D1-967714F22B95}"/>
              </a:ext>
            </a:extLst>
          </p:cNvPr>
          <p:cNvSpPr/>
          <p:nvPr/>
        </p:nvSpPr>
        <p:spPr>
          <a:xfrm>
            <a:off x="4401782" y="943898"/>
            <a:ext cx="7156033" cy="40213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4A0BAE-8598-4216-AEB8-27603B0815BA}"/>
              </a:ext>
            </a:extLst>
          </p:cNvPr>
          <p:cNvSpPr txBox="1"/>
          <p:nvPr/>
        </p:nvSpPr>
        <p:spPr>
          <a:xfrm>
            <a:off x="6855123" y="509070"/>
            <a:ext cx="2611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gRenderer</a:t>
            </a:r>
            <a:r>
              <a:rPr lang="en-US" altLang="zh-CN" dirty="0"/>
              <a:t> (main screen)</a:t>
            </a:r>
            <a:endParaRPr lang="zh-CN" altLang="en-US" dirty="0"/>
          </a:p>
        </p:txBody>
      </p:sp>
      <p:pic>
        <p:nvPicPr>
          <p:cNvPr id="1026" name="Picture 2" descr="Guilty Crown - Japan Powered">
            <a:extLst>
              <a:ext uri="{FF2B5EF4-FFF2-40B4-BE49-F238E27FC236}">
                <a16:creationId xmlns:a16="http://schemas.microsoft.com/office/drawing/2014/main" id="{F30AC453-1629-4143-BAF9-51C9268DC1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0274" y="1031833"/>
            <a:ext cx="6995401" cy="3860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 3">
            <a:extLst>
              <a:ext uri="{FF2B5EF4-FFF2-40B4-BE49-F238E27FC236}">
                <a16:creationId xmlns:a16="http://schemas.microsoft.com/office/drawing/2014/main" id="{D89161D7-9B74-4C06-BD7D-33C2185F34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804" y="5053225"/>
            <a:ext cx="6378058" cy="115940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53958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SDL_SetRenderTarget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(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gRenderer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mTexture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);</a:t>
            </a:r>
            <a:endParaRPr kumimoji="0" lang="en-US" altLang="zh-CN" sz="1100" b="0" i="0" u="none" strike="noStrike" cap="none" normalizeH="0" baseline="0" dirty="0">
              <a:ln>
                <a:noFill/>
              </a:ln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sz="1100" dirty="0"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// Drawin</a:t>
            </a:r>
            <a:r>
              <a:rPr lang="en-US" altLang="zh-CN" sz="1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g to image to render target…</a:t>
            </a:r>
            <a:endParaRPr kumimoji="0" lang="en-US" altLang="zh-CN" sz="500" b="0" i="0" u="none" strike="noStrike" cap="none" normalizeH="0" baseline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altLang="zh-CN" sz="12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SDL_Surface</a:t>
            </a:r>
            <a:r>
              <a:rPr lang="en-AU" altLang="zh-CN" dirty="0">
                <a:latin typeface="Consolas" panose="020B0609020204030204" pitchFamily="49" charset="0"/>
              </a:rPr>
              <a:t>* </a:t>
            </a:r>
            <a:r>
              <a:rPr lang="en-AU" altLang="zh-CN" dirty="0" err="1">
                <a:latin typeface="Consolas" panose="020B0609020204030204" pitchFamily="49" charset="0"/>
              </a:rPr>
              <a:t>y</a:t>
            </a:r>
            <a:r>
              <a:rPr kumimoji="0" lang="en-AU" altLang="zh-CN" sz="12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uzuri</a:t>
            </a:r>
            <a:r>
              <a:rPr lang="en-AU" altLang="zh-CN" dirty="0" err="1">
                <a:latin typeface="Consolas" panose="020B0609020204030204" pitchFamily="49" charset="0"/>
              </a:rPr>
              <a:t>haSurface</a:t>
            </a:r>
            <a:r>
              <a:rPr lang="en-AU" altLang="zh-CN" dirty="0">
                <a:latin typeface="Consolas" panose="020B0609020204030204" pitchFamily="49" charset="0"/>
              </a:rPr>
              <a:t> = </a:t>
            </a:r>
            <a:r>
              <a:rPr lang="en-AU" altLang="zh-CN" dirty="0" err="1">
                <a:latin typeface="Consolas" panose="020B0609020204030204" pitchFamily="49" charset="0"/>
              </a:rPr>
              <a:t>IMG_Load</a:t>
            </a:r>
            <a:r>
              <a:rPr lang="en-AU" altLang="zh-CN" dirty="0">
                <a:latin typeface="Consolas" panose="020B0609020204030204" pitchFamily="49" charset="0"/>
              </a:rPr>
              <a:t>(“yuzuruha.png”);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altLang="zh-CN" sz="12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SDL_Texture</a:t>
            </a:r>
            <a:r>
              <a:rPr kumimoji="0" lang="en-AU" altLang="zh-CN" sz="12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* </a:t>
            </a:r>
            <a:r>
              <a:rPr kumimoji="0" lang="en-AU" altLang="zh-CN" sz="12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mTexture</a:t>
            </a:r>
            <a:r>
              <a:rPr kumimoji="0" lang="en-AU" altLang="zh-CN" sz="12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= </a:t>
            </a:r>
            <a:r>
              <a:rPr kumimoji="0" lang="en-AU" altLang="zh-CN" sz="12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Crea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teTextureFromSurface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gRender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, </a:t>
            </a:r>
            <a:r>
              <a:rPr lang="en-AU" altLang="zh-CN" dirty="0" err="1">
                <a:latin typeface="Consolas" panose="020B0609020204030204" pitchFamily="49" charset="0"/>
              </a:rPr>
              <a:t>y</a:t>
            </a:r>
            <a:r>
              <a:rPr kumimoji="0" lang="en-AU" altLang="zh-CN" sz="10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uzuri</a:t>
            </a:r>
            <a:r>
              <a:rPr lang="en-AU" altLang="zh-CN" dirty="0" err="1">
                <a:latin typeface="Consolas" panose="020B0609020204030204" pitchFamily="49" charset="0"/>
              </a:rPr>
              <a:t>haSurface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); </a:t>
            </a:r>
            <a:endParaRPr kumimoji="0" lang="en-AU" altLang="zh-CN" sz="1200" b="0" i="0" u="none" strike="noStrike" cap="none" normalizeH="0" baseline="0" dirty="0">
              <a:ln>
                <a:noFill/>
              </a:ln>
              <a:effectLst/>
              <a:latin typeface="Consolas" panose="020B0609020204030204" pitchFamily="49" charset="0"/>
            </a:endParaRPr>
          </a:p>
        </p:txBody>
      </p:sp>
      <p:cxnSp>
        <p:nvCxnSpPr>
          <p:cNvPr id="23" name="Connector: Curved 22">
            <a:extLst>
              <a:ext uri="{FF2B5EF4-FFF2-40B4-BE49-F238E27FC236}">
                <a16:creationId xmlns:a16="http://schemas.microsoft.com/office/drawing/2014/main" id="{ED09F126-4C2C-477E-BB71-71A98F6C63DD}"/>
              </a:ext>
            </a:extLst>
          </p:cNvPr>
          <p:cNvCxnSpPr>
            <a:cxnSpLocks/>
          </p:cNvCxnSpPr>
          <p:nvPr/>
        </p:nvCxnSpPr>
        <p:spPr>
          <a:xfrm rot="10800000">
            <a:off x="2425501" y="1873045"/>
            <a:ext cx="1841698" cy="1492234"/>
          </a:xfrm>
          <a:prstGeom prst="curvedConnector3">
            <a:avLst/>
          </a:prstGeom>
          <a:ln w="381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D7F8E5C-F32D-4280-8AD2-6B4735478EB4}"/>
              </a:ext>
            </a:extLst>
          </p:cNvPr>
          <p:cNvSpPr txBox="1"/>
          <p:nvPr/>
        </p:nvSpPr>
        <p:spPr>
          <a:xfrm>
            <a:off x="2586178" y="2434496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highlight>
                  <a:srgbClr val="FFFF00"/>
                </a:highlight>
              </a:rPr>
              <a:t>Render Target</a:t>
            </a:r>
            <a:endParaRPr lang="zh-CN" altLang="en-US" dirty="0">
              <a:highlight>
                <a:srgbClr val="FFFF00"/>
              </a:highligh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BFE751-BD90-449B-8EB2-704D3B141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001" y="839329"/>
            <a:ext cx="1259493" cy="1389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776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8B3A9E6-C2D3-4B44-B225-A25577EE960B}"/>
              </a:ext>
            </a:extLst>
          </p:cNvPr>
          <p:cNvSpPr/>
          <p:nvPr/>
        </p:nvSpPr>
        <p:spPr>
          <a:xfrm>
            <a:off x="752168" y="796412"/>
            <a:ext cx="1396180" cy="14755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4FB3C3-448F-4232-9CEF-8D8057F931C8}"/>
              </a:ext>
            </a:extLst>
          </p:cNvPr>
          <p:cNvSpPr txBox="1"/>
          <p:nvPr/>
        </p:nvSpPr>
        <p:spPr>
          <a:xfrm>
            <a:off x="989234" y="427081"/>
            <a:ext cx="1116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mTexture</a:t>
            </a:r>
            <a:endParaRPr lang="zh-CN" alt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2BB8D9A-7626-4526-A5C3-04A0504D6A2B}"/>
              </a:ext>
            </a:extLst>
          </p:cNvPr>
          <p:cNvCxnSpPr/>
          <p:nvPr/>
        </p:nvCxnSpPr>
        <p:spPr>
          <a:xfrm>
            <a:off x="2290916" y="796413"/>
            <a:ext cx="0" cy="13716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FB3B889-2AA8-4373-B770-190AE846530F}"/>
              </a:ext>
            </a:extLst>
          </p:cNvPr>
          <p:cNvCxnSpPr>
            <a:cxnSpLocks/>
          </p:cNvCxnSpPr>
          <p:nvPr/>
        </p:nvCxnSpPr>
        <p:spPr>
          <a:xfrm flipH="1">
            <a:off x="752169" y="2329281"/>
            <a:ext cx="139617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7164C73-C756-45AC-BD5C-E91D50991502}"/>
              </a:ext>
            </a:extLst>
          </p:cNvPr>
          <p:cNvSpPr txBox="1"/>
          <p:nvPr/>
        </p:nvSpPr>
        <p:spPr>
          <a:xfrm>
            <a:off x="2290916" y="1297547"/>
            <a:ext cx="814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height</a:t>
            </a:r>
            <a:endParaRPr lang="zh-CN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A43BF4-B2AB-439E-B4B7-41536A7F4422}"/>
              </a:ext>
            </a:extLst>
          </p:cNvPr>
          <p:cNvSpPr txBox="1"/>
          <p:nvPr/>
        </p:nvSpPr>
        <p:spPr>
          <a:xfrm>
            <a:off x="1084612" y="2356850"/>
            <a:ext cx="731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width</a:t>
            </a:r>
            <a:endParaRPr lang="zh-CN" alt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25656D-EA49-4F9D-B7D1-967714F22B95}"/>
              </a:ext>
            </a:extLst>
          </p:cNvPr>
          <p:cNvSpPr/>
          <p:nvPr/>
        </p:nvSpPr>
        <p:spPr>
          <a:xfrm>
            <a:off x="4401782" y="943898"/>
            <a:ext cx="7156033" cy="40213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4A0BAE-8598-4216-AEB8-27603B0815BA}"/>
              </a:ext>
            </a:extLst>
          </p:cNvPr>
          <p:cNvSpPr txBox="1"/>
          <p:nvPr/>
        </p:nvSpPr>
        <p:spPr>
          <a:xfrm>
            <a:off x="6855123" y="509070"/>
            <a:ext cx="2611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gRenderer</a:t>
            </a:r>
            <a:r>
              <a:rPr lang="en-US" altLang="zh-CN" dirty="0"/>
              <a:t> (main screen)</a:t>
            </a:r>
            <a:endParaRPr lang="zh-CN" altLang="en-US" dirty="0"/>
          </a:p>
        </p:txBody>
      </p:sp>
      <p:pic>
        <p:nvPicPr>
          <p:cNvPr id="1026" name="Picture 2" descr="Guilty Crown - Japan Powered">
            <a:extLst>
              <a:ext uri="{FF2B5EF4-FFF2-40B4-BE49-F238E27FC236}">
                <a16:creationId xmlns:a16="http://schemas.microsoft.com/office/drawing/2014/main" id="{F30AC453-1629-4143-BAF9-51C9268DC1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0274" y="1031833"/>
            <a:ext cx="6995401" cy="3860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 3">
            <a:extLst>
              <a:ext uri="{FF2B5EF4-FFF2-40B4-BE49-F238E27FC236}">
                <a16:creationId xmlns:a16="http://schemas.microsoft.com/office/drawing/2014/main" id="{D89161D7-9B74-4C06-BD7D-33C2185F34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813" y="4353914"/>
            <a:ext cx="6378058" cy="1879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53958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SDL_SetRenderTarget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(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gRenderer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mTexture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);</a:t>
            </a:r>
            <a:endParaRPr kumimoji="0" lang="en-US" altLang="zh-CN" sz="1100" b="0" i="0" u="none" strike="noStrike" cap="none" normalizeH="0" baseline="0" dirty="0">
              <a:ln>
                <a:noFill/>
              </a:ln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sz="1100" dirty="0"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// Drawin</a:t>
            </a:r>
            <a:r>
              <a:rPr lang="en-US" altLang="zh-CN" sz="1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g to image to render target…</a:t>
            </a:r>
            <a:endParaRPr kumimoji="0" lang="en-US" altLang="zh-CN" sz="500" b="1" i="0" u="none" strike="noStrike" cap="none" normalizeH="0" baseline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altLang="zh-CN" sz="120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SDL_Surface</a:t>
            </a:r>
            <a:r>
              <a:rPr lang="en-AU" altLang="zh-CN" dirty="0">
                <a:latin typeface="Consolas" panose="020B0609020204030204" pitchFamily="49" charset="0"/>
              </a:rPr>
              <a:t>* </a:t>
            </a:r>
            <a:r>
              <a:rPr lang="en-AU" altLang="zh-CN" dirty="0" err="1">
                <a:latin typeface="Consolas" panose="020B0609020204030204" pitchFamily="49" charset="0"/>
              </a:rPr>
              <a:t>y</a:t>
            </a:r>
            <a:r>
              <a:rPr kumimoji="0" lang="en-AU" altLang="zh-CN" sz="120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uzuri</a:t>
            </a:r>
            <a:r>
              <a:rPr lang="en-AU" altLang="zh-CN" dirty="0" err="1">
                <a:latin typeface="Consolas" panose="020B0609020204030204" pitchFamily="49" charset="0"/>
              </a:rPr>
              <a:t>haSurface</a:t>
            </a:r>
            <a:r>
              <a:rPr lang="en-AU" altLang="zh-CN" dirty="0">
                <a:latin typeface="Consolas" panose="020B0609020204030204" pitchFamily="49" charset="0"/>
              </a:rPr>
              <a:t> = </a:t>
            </a:r>
            <a:r>
              <a:rPr lang="en-AU" altLang="zh-CN" dirty="0" err="1">
                <a:latin typeface="Consolas" panose="020B0609020204030204" pitchFamily="49" charset="0"/>
              </a:rPr>
              <a:t>IMG_Load</a:t>
            </a:r>
            <a:r>
              <a:rPr lang="en-AU" altLang="zh-CN" dirty="0">
                <a:latin typeface="Consolas" panose="020B0609020204030204" pitchFamily="49" charset="0"/>
              </a:rPr>
              <a:t>(“yuzuruha.png”);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altLang="zh-CN" sz="12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SDL_Texture</a:t>
            </a:r>
            <a:r>
              <a:rPr kumimoji="0" lang="en-AU" altLang="zh-CN" sz="12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* </a:t>
            </a:r>
            <a:r>
              <a:rPr kumimoji="0" lang="en-AU" altLang="zh-CN" sz="12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mTexture</a:t>
            </a:r>
            <a:r>
              <a:rPr kumimoji="0" lang="en-AU" altLang="zh-CN" sz="12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= </a:t>
            </a:r>
            <a:r>
              <a:rPr kumimoji="0" lang="en-AU" altLang="zh-CN" sz="12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Crea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teTextureFromSurface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gRender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, </a:t>
            </a:r>
            <a:r>
              <a:rPr lang="en-AU" altLang="zh-CN" dirty="0" err="1">
                <a:latin typeface="Consolas" panose="020B0609020204030204" pitchFamily="49" charset="0"/>
              </a:rPr>
              <a:t>y</a:t>
            </a:r>
            <a:r>
              <a:rPr kumimoji="0" lang="en-AU" altLang="zh-CN" sz="10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uzuri</a:t>
            </a:r>
            <a:r>
              <a:rPr lang="en-AU" altLang="zh-CN" dirty="0" err="1">
                <a:latin typeface="Consolas" panose="020B0609020204030204" pitchFamily="49" charset="0"/>
              </a:rPr>
              <a:t>haSurface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);</a:t>
            </a:r>
          </a:p>
          <a:p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onsolas" panose="020B0609020204030204" pitchFamily="49" charset="0"/>
            </a:endParaRPr>
          </a:p>
          <a:p>
            <a:r>
              <a:rPr kumimoji="0" lang="en-US" altLang="zh-CN" sz="11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altLang="zh-CN" sz="1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reset the render target</a:t>
            </a:r>
            <a:endParaRPr lang="en-US" altLang="zh-CN" sz="1100" dirty="0"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SDL_SetRenderTarget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( 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gRenderer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, NULL );</a:t>
            </a:r>
            <a:endParaRPr kumimoji="0" lang="en-AU" altLang="zh-CN" sz="1200" b="0" i="0" u="none" strike="noStrike" cap="none" normalizeH="0" baseline="0" dirty="0">
              <a:ln>
                <a:noFill/>
              </a:ln>
              <a:effectLst/>
              <a:latin typeface="Consolas" panose="020B0609020204030204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BFE751-BD90-449B-8EB2-704D3B141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001" y="839329"/>
            <a:ext cx="1259493" cy="138967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DCE9459-F6FE-4893-8FB5-4A4C33B773F9}"/>
              </a:ext>
            </a:extLst>
          </p:cNvPr>
          <p:cNvSpPr txBox="1"/>
          <p:nvPr/>
        </p:nvSpPr>
        <p:spPr>
          <a:xfrm>
            <a:off x="9703723" y="4374697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highlight>
                  <a:srgbClr val="FFFF00"/>
                </a:highlight>
              </a:rPr>
              <a:t>Render Target</a:t>
            </a:r>
            <a:endParaRPr lang="zh-CN" alt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087953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8B3A9E6-C2D3-4B44-B225-A25577EE960B}"/>
              </a:ext>
            </a:extLst>
          </p:cNvPr>
          <p:cNvSpPr/>
          <p:nvPr/>
        </p:nvSpPr>
        <p:spPr>
          <a:xfrm>
            <a:off x="752168" y="796412"/>
            <a:ext cx="1396180" cy="14755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4FB3C3-448F-4232-9CEF-8D8057F931C8}"/>
              </a:ext>
            </a:extLst>
          </p:cNvPr>
          <p:cNvSpPr txBox="1"/>
          <p:nvPr/>
        </p:nvSpPr>
        <p:spPr>
          <a:xfrm>
            <a:off x="989234" y="427081"/>
            <a:ext cx="1116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mTexture</a:t>
            </a:r>
            <a:endParaRPr lang="zh-CN" alt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2BB8D9A-7626-4526-A5C3-04A0504D6A2B}"/>
              </a:ext>
            </a:extLst>
          </p:cNvPr>
          <p:cNvCxnSpPr/>
          <p:nvPr/>
        </p:nvCxnSpPr>
        <p:spPr>
          <a:xfrm>
            <a:off x="2290916" y="796413"/>
            <a:ext cx="0" cy="13716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FB3B889-2AA8-4373-B770-190AE846530F}"/>
              </a:ext>
            </a:extLst>
          </p:cNvPr>
          <p:cNvCxnSpPr>
            <a:cxnSpLocks/>
          </p:cNvCxnSpPr>
          <p:nvPr/>
        </p:nvCxnSpPr>
        <p:spPr>
          <a:xfrm flipH="1">
            <a:off x="752169" y="2329281"/>
            <a:ext cx="139617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7164C73-C756-45AC-BD5C-E91D50991502}"/>
              </a:ext>
            </a:extLst>
          </p:cNvPr>
          <p:cNvSpPr txBox="1"/>
          <p:nvPr/>
        </p:nvSpPr>
        <p:spPr>
          <a:xfrm>
            <a:off x="2290916" y="1297547"/>
            <a:ext cx="814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height</a:t>
            </a:r>
            <a:endParaRPr lang="zh-CN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A43BF4-B2AB-439E-B4B7-41536A7F4422}"/>
              </a:ext>
            </a:extLst>
          </p:cNvPr>
          <p:cNvSpPr txBox="1"/>
          <p:nvPr/>
        </p:nvSpPr>
        <p:spPr>
          <a:xfrm>
            <a:off x="1084612" y="2356850"/>
            <a:ext cx="731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width</a:t>
            </a:r>
            <a:endParaRPr lang="zh-CN" alt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25656D-EA49-4F9D-B7D1-967714F22B95}"/>
              </a:ext>
            </a:extLst>
          </p:cNvPr>
          <p:cNvSpPr/>
          <p:nvPr/>
        </p:nvSpPr>
        <p:spPr>
          <a:xfrm>
            <a:off x="4401782" y="943898"/>
            <a:ext cx="7156033" cy="40213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4A0BAE-8598-4216-AEB8-27603B0815BA}"/>
              </a:ext>
            </a:extLst>
          </p:cNvPr>
          <p:cNvSpPr txBox="1"/>
          <p:nvPr/>
        </p:nvSpPr>
        <p:spPr>
          <a:xfrm>
            <a:off x="6855123" y="509070"/>
            <a:ext cx="2611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gRenderer</a:t>
            </a:r>
            <a:r>
              <a:rPr lang="en-US" altLang="zh-CN" dirty="0"/>
              <a:t> (main screen)</a:t>
            </a:r>
            <a:endParaRPr lang="zh-CN" altLang="en-US" dirty="0"/>
          </a:p>
        </p:txBody>
      </p:sp>
      <p:pic>
        <p:nvPicPr>
          <p:cNvPr id="1026" name="Picture 2" descr="Guilty Crown - Japan Powered">
            <a:extLst>
              <a:ext uri="{FF2B5EF4-FFF2-40B4-BE49-F238E27FC236}">
                <a16:creationId xmlns:a16="http://schemas.microsoft.com/office/drawing/2014/main" id="{F30AC453-1629-4143-BAF9-51C9268DC1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0274" y="1031833"/>
            <a:ext cx="6995401" cy="3860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 3">
            <a:extLst>
              <a:ext uri="{FF2B5EF4-FFF2-40B4-BE49-F238E27FC236}">
                <a16:creationId xmlns:a16="http://schemas.microsoft.com/office/drawing/2014/main" id="{D89161D7-9B74-4C06-BD7D-33C2185F34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528" y="4453231"/>
            <a:ext cx="6378058" cy="233972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53958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SDL_SetRenderTarget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(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gRenderer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mTexture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);</a:t>
            </a:r>
            <a:endParaRPr kumimoji="0" lang="en-US" altLang="zh-CN" sz="1100" b="0" i="0" u="none" strike="noStrike" cap="none" normalizeH="0" baseline="0" dirty="0">
              <a:ln>
                <a:noFill/>
              </a:ln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sz="1100" dirty="0"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// Drawin</a:t>
            </a:r>
            <a:r>
              <a:rPr lang="en-US" altLang="zh-CN" sz="1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g to image to render target…</a:t>
            </a:r>
            <a:endParaRPr kumimoji="0" lang="en-US" altLang="zh-CN" sz="500" b="1" i="0" u="none" strike="noStrike" cap="none" normalizeH="0" baseline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altLang="zh-CN" sz="120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SDL_Surface</a:t>
            </a:r>
            <a:r>
              <a:rPr lang="en-AU" altLang="zh-CN" dirty="0">
                <a:latin typeface="Consolas" panose="020B0609020204030204" pitchFamily="49" charset="0"/>
              </a:rPr>
              <a:t>* </a:t>
            </a:r>
            <a:r>
              <a:rPr lang="en-AU" altLang="zh-CN" dirty="0" err="1">
                <a:latin typeface="Consolas" panose="020B0609020204030204" pitchFamily="49" charset="0"/>
              </a:rPr>
              <a:t>y</a:t>
            </a:r>
            <a:r>
              <a:rPr kumimoji="0" lang="en-AU" altLang="zh-CN" sz="120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uzuri</a:t>
            </a:r>
            <a:r>
              <a:rPr lang="en-AU" altLang="zh-CN" dirty="0" err="1">
                <a:latin typeface="Consolas" panose="020B0609020204030204" pitchFamily="49" charset="0"/>
              </a:rPr>
              <a:t>haSurface</a:t>
            </a:r>
            <a:r>
              <a:rPr lang="en-AU" altLang="zh-CN" dirty="0">
                <a:latin typeface="Consolas" panose="020B0609020204030204" pitchFamily="49" charset="0"/>
              </a:rPr>
              <a:t> = </a:t>
            </a:r>
            <a:r>
              <a:rPr lang="en-AU" altLang="zh-CN" dirty="0" err="1">
                <a:latin typeface="Consolas" panose="020B0609020204030204" pitchFamily="49" charset="0"/>
              </a:rPr>
              <a:t>IMG_Load</a:t>
            </a:r>
            <a:r>
              <a:rPr lang="en-AU" altLang="zh-CN" dirty="0">
                <a:latin typeface="Consolas" panose="020B0609020204030204" pitchFamily="49" charset="0"/>
              </a:rPr>
              <a:t>(“yuzuruha.png”);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altLang="zh-CN" sz="12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SDL_Texture</a:t>
            </a:r>
            <a:r>
              <a:rPr kumimoji="0" lang="en-AU" altLang="zh-CN" sz="12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* </a:t>
            </a:r>
            <a:r>
              <a:rPr kumimoji="0" lang="en-AU" altLang="zh-CN" sz="12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mTexture</a:t>
            </a:r>
            <a:r>
              <a:rPr kumimoji="0" lang="en-AU" altLang="zh-CN" sz="12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= </a:t>
            </a:r>
            <a:r>
              <a:rPr kumimoji="0" lang="en-AU" altLang="zh-CN" sz="12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Crea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teTextureFromSurface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gRender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, </a:t>
            </a:r>
            <a:r>
              <a:rPr lang="en-AU" altLang="zh-CN" dirty="0" err="1">
                <a:latin typeface="Consolas" panose="020B0609020204030204" pitchFamily="49" charset="0"/>
              </a:rPr>
              <a:t>y</a:t>
            </a:r>
            <a:r>
              <a:rPr kumimoji="0" lang="en-AU" altLang="zh-CN" sz="10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uzuri</a:t>
            </a:r>
            <a:r>
              <a:rPr lang="en-AU" altLang="zh-CN" dirty="0" err="1">
                <a:latin typeface="Consolas" panose="020B0609020204030204" pitchFamily="49" charset="0"/>
              </a:rPr>
              <a:t>haSurface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);</a:t>
            </a:r>
          </a:p>
          <a:p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onsolas" panose="020B0609020204030204" pitchFamily="49" charset="0"/>
            </a:endParaRPr>
          </a:p>
          <a:p>
            <a:r>
              <a:rPr kumimoji="0" lang="en-US" altLang="zh-CN" sz="11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altLang="zh-CN" sz="1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reset the render target</a:t>
            </a:r>
            <a:endParaRPr lang="en-US" altLang="zh-CN" sz="1100" dirty="0"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SDL_SetRenderTarget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( 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gRenderer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, NULL );</a:t>
            </a:r>
          </a:p>
          <a:p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copy the whole texture a spec</a:t>
            </a:r>
            <a:r>
              <a:rPr lang="en-US" altLang="zh-CN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ified location in the </a:t>
            </a:r>
            <a:r>
              <a:rPr lang="en-US" altLang="zh-CN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gRenderer</a:t>
            </a:r>
            <a:endParaRPr lang="en-US" altLang="zh-CN" dirty="0"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altLang="zh-CN" sz="12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SDL_RenderCopy</a:t>
            </a:r>
            <a:r>
              <a:rPr kumimoji="0" lang="en-AU" altLang="zh-CN" sz="12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(</a:t>
            </a:r>
            <a:r>
              <a:rPr kumimoji="0" lang="en-AU" altLang="zh-CN" sz="12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gRenderer</a:t>
            </a:r>
            <a:r>
              <a:rPr kumimoji="0" lang="en-AU" altLang="zh-CN" sz="12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, </a:t>
            </a:r>
            <a:r>
              <a:rPr kumimoji="0" lang="en-AU" altLang="zh-CN" sz="12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mTexture</a:t>
            </a:r>
            <a:r>
              <a:rPr kumimoji="0" lang="en-AU" altLang="zh-CN" sz="12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, NULL, &amp;</a:t>
            </a:r>
            <a:r>
              <a:rPr kumimoji="0" lang="en-AU" altLang="zh-CN" sz="12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des</a:t>
            </a:r>
            <a:r>
              <a:rPr lang="en-AU" altLang="zh-CN" dirty="0" err="1">
                <a:latin typeface="Consolas" panose="020B0609020204030204" pitchFamily="49" charset="0"/>
              </a:rPr>
              <a:t>tPos_Rect</a:t>
            </a:r>
            <a:r>
              <a:rPr kumimoji="0" lang="en-AU" altLang="zh-CN" sz="12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BFE751-BD90-449B-8EB2-704D3B141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001" y="839329"/>
            <a:ext cx="1259493" cy="138967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DCE9459-F6FE-4893-8FB5-4A4C33B773F9}"/>
              </a:ext>
            </a:extLst>
          </p:cNvPr>
          <p:cNvSpPr txBox="1"/>
          <p:nvPr/>
        </p:nvSpPr>
        <p:spPr>
          <a:xfrm>
            <a:off x="9703723" y="4374697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highlight>
                  <a:srgbClr val="FFFF00"/>
                </a:highlight>
              </a:rPr>
              <a:t>Render Target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164F51-9EAE-42AD-BFA7-A411B654E54D}"/>
              </a:ext>
            </a:extLst>
          </p:cNvPr>
          <p:cNvSpPr/>
          <p:nvPr/>
        </p:nvSpPr>
        <p:spPr>
          <a:xfrm>
            <a:off x="9284755" y="1169703"/>
            <a:ext cx="1396180" cy="14755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E4BBCC-9946-4E38-B3ED-63E6576A758D}"/>
              </a:ext>
            </a:extLst>
          </p:cNvPr>
          <p:cNvSpPr txBox="1"/>
          <p:nvPr/>
        </p:nvSpPr>
        <p:spPr>
          <a:xfrm>
            <a:off x="9203625" y="2607887"/>
            <a:ext cx="1558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err="1">
                <a:solidFill>
                  <a:schemeClr val="bg1"/>
                </a:solidFill>
                <a:highlight>
                  <a:srgbClr val="000000"/>
                </a:highlight>
              </a:rPr>
              <a:t>destPos_Rect</a:t>
            </a:r>
            <a:endParaRPr lang="zh-CN" altLang="en-US" b="1" dirty="0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41E673C-6423-4B1C-B098-AA54B22B4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3098" y="1218214"/>
            <a:ext cx="1259493" cy="1389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0941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365</Words>
  <Application>Microsoft Office PowerPoint</Application>
  <PresentationFormat>Widescreen</PresentationFormat>
  <Paragraphs>47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DengXian</vt:lpstr>
      <vt:lpstr>DengXian Light</vt:lpstr>
      <vt:lpstr>Arial</vt:lpstr>
      <vt:lpstr>Consolas</vt:lpstr>
      <vt:lpstr>Office Theme</vt:lpstr>
      <vt:lpstr>Render to Texture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hli258@student.monash.edu</dc:creator>
  <cp:lastModifiedBy>Haohua Li</cp:lastModifiedBy>
  <cp:revision>3</cp:revision>
  <dcterms:created xsi:type="dcterms:W3CDTF">2021-03-25T02:00:24Z</dcterms:created>
  <dcterms:modified xsi:type="dcterms:W3CDTF">2021-03-25T02:20:22Z</dcterms:modified>
</cp:coreProperties>
</file>